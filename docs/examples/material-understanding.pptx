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007A78"/>
            </a:solidFill>
            <a:effectLst/>
          </c:spPr>
          <c:invertIfNegative val="0"/>
          <c:dLbls>
            <c:numFmt formatCode="0.##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A4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关键词检索</c:v>
                  </c:pt>
                  <c:pt idx="1">
                    <c:v>语义检索</c:v>
                  </c:pt>
                  <c:pt idx="2">
                    <c:v>检索与人工复核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71.2</c:v>
                </c:pt>
                <c:pt idx="1">
                  <c:v>84.5</c:v>
                </c:pt>
                <c:pt idx="2">
                  <c:v>89.6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召回率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dLbls>
            <c:numFmt formatCode="0.##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A4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关键词检索</c:v>
                  </c:pt>
                  <c:pt idx="1">
                    <c:v>语义检索</c:v>
                  </c:pt>
                  <c:pt idx="2">
                    <c:v>检索与人工复核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68.4</c:v>
                </c:pt>
                <c:pt idx="1">
                  <c:v>82.1</c:v>
                </c:pt>
                <c:pt idx="2">
                  <c:v>87.3</c:v>
                </c:pt>
              </c:numCache>
            </c:numRef>
          </c:val>
        </c:ser>
        <c:dLbls>
          <c:numFmt formatCode="0.##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02A4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0.##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本页结论：建议优先在内部知识问答场景推广，并保留人工复核。
要点：知识分散在制度文件与操作手册中，检索后仍需人工判断版本。
要点：业务人员需要得到附带原始出处的回答，便于快速复核。
适用边界：知识分散在制度文件与操作手册中，检索后仍需人工判断版本。
过渡：承接下一页
[Sources]
- 内容来源：试点复盘（合成材料）.docx · S002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本页结论：从问题出发，用方法与证据回答核心命题
过渡：承接下一页
[Sources]
- 内容来源：用户创作简报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本页结论：知识分散在制度文件与操作手册中，检索后仍需人工判断版本。
要点：知识分散在制度文件与操作手册中，检索后仍需人工判断版本。
要点：业务人员需要得到附带原始出处的回答，便于快速复核。
适用边界：知识分散在制度文件与操作手册中，检索后仍需人工判断版本。
过渡：承接下一页
[Sources]
- 内容来源：试点复盘（合成材料）.docx · S002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本页结论：现有检索能够找到相似内容，却难以区分过期规定与当前口径。
要点：现有检索能够找到相似内容，却难以区分过期规定与当前口径。
要点：对于缺乏证据的问题，系统必须明确说明材料不足。
适用边界：对于缺乏证据的问题，系统必须明确说明材料不足。
过渡：承接下一页
[Sources]
- 内容来源：试点复盘（合成材料）.docx · S003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本页结论：资料索引保存文件版本、章节与页码，回答能够定位到原始段落。
要点：资料索引保存文件版本、章节与页码，回答能够定位到原始段落。
要点：检索层只提供与问题相关的片段，复核人员能够查看完整上下文。
要点：回答附带引用，原文未提供的信息保持未知。
过渡：承接下一页
[Sources]
- 内容来源：试点复盘（合成材料）.docx · S004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本页结论：首先整理现行文件，标记发布日期与适用业务。
要点：首先整理现行文件，标记发布日期与适用业务。
要点：然后将典型问题与原始证据配对，建立复核样本。
要点：最后由业务人员逐条确认答案和引用，再逐步扩大试点。
过渡：承接下一页
[Sources]
- 内容来源：试点复盘（合成材料）.docx · S005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本页结论：结果表明检索与人工复核的组合改善了回答质量。
要点：关键词检索：准确率：71.2%；召回率：68.4%
要点：语义检索：准确率：84.5%；召回率：82.1%
要点：检索与人工复核：准确率：89.6%；召回率：87.3%
要点：结果表明检索与人工复核的组合改善了回答质量。
过渡：承接下一页
[Sources]
- 内容来源：试点复盘（合成材料）.docx · S006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本页结论：服务指标按原始口径对照
要点：关键词检索：平均耗时：32秒；复核覆盖率：70%
要点：语义检索：平均耗时：24秒；复核覆盖率：82%
要点：检索与人工复核：平均耗时：18秒；复核覆盖率：96%
过渡：承接下一页
[Sources]
- 内容来源：服务指标（合成数据）.xlsx · S001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本页结论：建议优先在内部知识问答场景推广，并保留人工复核。
要点：建议优先在内部知识问答场景推广，并保留人工复核。
要点：当前结果仅限内部样本，不能推断其他行业或公开服务中的效果。
要点：扩大试点前，应补充异常问题与过期文件的评估。
适用边界：当前结果仅限内部样本，不能推断其他行业或公开服务中的效果。
过渡：结束汇报
[Sources]
- 内容来源：试点复盘（合成材料）.docx · S007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173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994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EB7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来源：试点复盘（合成材料）.docx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18520" y="6400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EB7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234440" y="1828800"/>
            <a:ext cx="9738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让每个回答都有据可查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920240" y="3675888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CE1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建议优先在内部知识问答场景推广，并保留人工复核。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8520" y="6400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368" y="4389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85953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汇报路线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1234440" y="2788920"/>
            <a:ext cx="9555480" cy="0"/>
          </a:xfrm>
          <a:prstGeom prst="line">
            <a:avLst/>
          </a:prstGeom>
          <a:noFill/>
          <a:ln w="31750">
            <a:solidFill>
              <a:srgbClr val="007A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00200" y="2587752"/>
            <a:ext cx="402336" cy="402336"/>
          </a:xfrm>
          <a:prstGeom prst="ellipse">
            <a:avLst/>
          </a:prstGeom>
          <a:solidFill>
            <a:srgbClr val="007A78"/>
          </a:solidFill>
          <a:ln w="25400">
            <a:solidFill>
              <a:srgbClr val="F5F8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90472" y="32461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" y="3584448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问题与目标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61688" y="2587752"/>
            <a:ext cx="402336" cy="402336"/>
          </a:xfrm>
          <a:prstGeom prst="ellipse">
            <a:avLst/>
          </a:prstGeom>
          <a:solidFill>
            <a:srgbClr val="F0B429"/>
          </a:solidFill>
          <a:ln w="25400">
            <a:solidFill>
              <a:srgbClr val="F5F8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1960" y="32461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13048" y="3584448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方案与证据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23176" y="2587752"/>
            <a:ext cx="402336" cy="402336"/>
          </a:xfrm>
          <a:prstGeom prst="ellipse">
            <a:avLst/>
          </a:prstGeom>
          <a:solidFill>
            <a:srgbClr val="007A78"/>
          </a:solidFill>
          <a:ln w="25400">
            <a:solidFill>
              <a:srgbClr val="F5F8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13448" y="32461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74536" y="3584448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结论与行动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994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来源：试点复盘（合成材料）.docx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18520" y="6400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4389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业务背景</a:t>
            </a:r>
            <a:endParaRPr lang="en-US" sz="3500" dirty="0"/>
          </a:p>
        </p:txBody>
      </p:sp>
      <p:sp>
        <p:nvSpPr>
          <p:cNvPr id="7" name="Shape 4"/>
          <p:cNvSpPr/>
          <p:nvPr/>
        </p:nvSpPr>
        <p:spPr>
          <a:xfrm>
            <a:off x="694944" y="1874520"/>
            <a:ext cx="10808208" cy="3364992"/>
          </a:xfrm>
          <a:prstGeom prst="roundRect">
            <a:avLst>
              <a:gd name="adj" fmla="val 2174"/>
            </a:avLst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1874520"/>
            <a:ext cx="73152" cy="336499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0B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700784" y="2331720"/>
            <a:ext cx="8961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知识分散在制度文件与操作手册中，检索后仍需人工判断版本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1700784" y="3749040"/>
            <a:ext cx="3977640" cy="0"/>
          </a:xfrm>
          <a:prstGeom prst="line">
            <a:avLst/>
          </a:prstGeom>
          <a:noFill/>
          <a:ln w="12700">
            <a:solidFill>
              <a:srgbClr val="6971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00784" y="39502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157984" y="387705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8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业务人员需要得到附带原始出处的回答，便于快速复核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994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来源：试点复盘（合成材料）.docx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18520" y="6400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4389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3500" dirty="0"/>
          </a:p>
        </p:txBody>
      </p:sp>
      <p:sp>
        <p:nvSpPr>
          <p:cNvPr id="7" name="Shape 4"/>
          <p:cNvSpPr/>
          <p:nvPr/>
        </p:nvSpPr>
        <p:spPr>
          <a:xfrm>
            <a:off x="694944" y="1847088"/>
            <a:ext cx="4160520" cy="3456432"/>
          </a:xfrm>
          <a:prstGeom prst="rect">
            <a:avLst/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" y="1847088"/>
            <a:ext cx="91440" cy="3456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2852928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现有检索能够找到相似内容，却难以区分过期规定与当前口径。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303520" y="204825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40096" y="2125980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760720" y="20391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现有检索能够找到相似内容，却难以区分过期规定与当前口径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303520" y="30358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0096" y="3113532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760720" y="302666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对于缺乏证据的问题，系统必须明确说明材料不足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994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来源：试点复盘（合成材料）.docx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18520" y="6400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4389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3500" dirty="0"/>
          </a:p>
        </p:txBody>
      </p:sp>
      <p:sp>
        <p:nvSpPr>
          <p:cNvPr id="7" name="Shape 4"/>
          <p:cNvSpPr/>
          <p:nvPr/>
        </p:nvSpPr>
        <p:spPr>
          <a:xfrm>
            <a:off x="658368" y="1865376"/>
            <a:ext cx="4261104" cy="0"/>
          </a:xfrm>
          <a:prstGeom prst="line">
            <a:avLst/>
          </a:prstGeom>
          <a:noFill/>
          <a:ln w="47625">
            <a:solidFill>
              <a:srgbClr val="007A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194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2697480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资料索引保存文件版本、章节与页码，回答能够定位到原始段落。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532120" y="2432304"/>
            <a:ext cx="59893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63347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16752" y="2560320"/>
            <a:ext cx="55046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检索层只提供与问题相关的片段，复核人员能够查看完整上下文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532120" y="3602736"/>
            <a:ext cx="59893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3803904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16752" y="3730752"/>
            <a:ext cx="55046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回答附带引用，原文未提供的信息保持未知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994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来源：试点复盘（合成材料）.docx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18520" y="6400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4389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实施方法</a:t>
            </a:r>
            <a:endParaRPr lang="en-US" sz="3500" dirty="0"/>
          </a:p>
        </p:txBody>
      </p:sp>
      <p:sp>
        <p:nvSpPr>
          <p:cNvPr id="7" name="Shape 4"/>
          <p:cNvSpPr/>
          <p:nvPr/>
        </p:nvSpPr>
        <p:spPr>
          <a:xfrm>
            <a:off x="658368" y="2057400"/>
            <a:ext cx="2395728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2304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6968" y="2852928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首先整理现行文件，标记发布日期与适用业务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127248" y="288950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3511296" y="2057400"/>
            <a:ext cx="2395728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39896" y="2304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739896" y="2852928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然后将典型问题与原始证据配对，建立复核样本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80176" y="288950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364224" y="2057400"/>
            <a:ext cx="2395728" cy="2395728"/>
          </a:xfrm>
          <a:prstGeom prst="roundRect">
            <a:avLst>
              <a:gd name="adj" fmla="val 6107"/>
            </a:avLst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92824" y="2304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92824" y="2852928"/>
            <a:ext cx="19385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最后由业务人员逐条确认答案和引用，再逐步扩大试点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05840" y="525780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首先整理现行文件，标记发布日期与适用业务。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994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来源：试点复盘（合成材料）.docx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18520" y="6400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4389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数据结果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试点验证结果</a:t>
            </a:r>
            <a:endParaRPr lang="en-US" sz="3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86384" y="1737360"/>
          <a:ext cx="10561320" cy="3584448"/>
        </p:xfrm>
        <a:graphic>
          <a:graphicData uri="http://schemas.openxmlformats.org/drawingml/2006/chart">
            <ns2:chart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1874520" y="5413248"/>
            <a:ext cx="8458200" cy="566928"/>
          </a:xfrm>
          <a:prstGeom prst="roundRect">
            <a:avLst>
              <a:gd name="adj" fmla="val 16129"/>
            </a:avLst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157984" y="5559552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结果表明检索与人工复核的组合改善了回答质量。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994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来源：服务指标（合成数据）.xlsx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18520" y="6400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4389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数据结果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服务指标</a:t>
            </a:r>
            <a:endParaRPr lang="en-US" sz="3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768096" y="1755648"/>
          <a:ext cx="10652760" cy="2048256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 / 对象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平均耗时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复核覆盖率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关键词检索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语义检索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检索与人工复核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874520" y="5413248"/>
            <a:ext cx="8458200" cy="566928"/>
          </a:xfrm>
          <a:prstGeom prst="roundRect">
            <a:avLst>
              <a:gd name="adj" fmla="val 16129"/>
            </a:avLst>
          </a:prstGeom>
          <a:solidFill>
            <a:srgbClr val="173F5F"/>
          </a:solidFill>
          <a:ln w="12700">
            <a:solidFill>
              <a:srgbClr val="173F5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157984" y="5559552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服务指标按原始口径对照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994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来源：试点复盘（合成材料）.docx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18520" y="64008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4389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859536"/>
            <a:ext cx="10652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500" dirty="0"/>
          </a:p>
        </p:txBody>
      </p:sp>
      <p:sp>
        <p:nvSpPr>
          <p:cNvPr id="7" name="Shape 4"/>
          <p:cNvSpPr/>
          <p:nvPr/>
        </p:nvSpPr>
        <p:spPr>
          <a:xfrm>
            <a:off x="658368" y="1865376"/>
            <a:ext cx="4261104" cy="0"/>
          </a:xfrm>
          <a:prstGeom prst="line">
            <a:avLst/>
          </a:prstGeom>
          <a:noFill/>
          <a:ln w="47625">
            <a:solidFill>
              <a:srgbClr val="007A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194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2697480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建议优先在内部知识问答场景推广，并保留人工复核。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532120" y="2432304"/>
            <a:ext cx="59893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633472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16752" y="2560320"/>
            <a:ext cx="55046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当前结果仅限内部样本，不能推断其他行业或公开服务中的效果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532120" y="3602736"/>
            <a:ext cx="59893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3803904"/>
            <a:ext cx="301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16752" y="3730752"/>
            <a:ext cx="55046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扩大试点前，应补充异常问题与过期文件的评估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映章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映章智能演示</dc:subject>
  <dc:creator>映章</dc:creator>
  <cp:lastModifiedBy>映章</cp:lastModifiedBy>
  <cp:revision>1</cp:revision>
  <dcterms:created xsi:type="dcterms:W3CDTF">2026-09-06T04:12:41Z</dcterms:created>
  <dcterms:modified xsi:type="dcterms:W3CDTF">2026-09-06T04:12:41Z</dcterms:modified>
</cp:coreProperties>
</file>